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2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4114800" cy="411480"/>
          </a:xfrm>
          <a:prstGeom prst="roundRect">
            <a:avLst/>
          </a:prstGeom>
          <a:solidFill>
            <a:srgbClr val="2C190F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D4AF37"/>
                </a:solidFill>
                <a:latin typeface="Montserrat"/>
              </a:defRPr>
            </a:pPr>
            <a:r>
              <a:t>PROGRAMA MODO LÍDER • COHORTE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Montserrat"/>
              </a:defRPr>
            </a:pPr>
            <a:r>
              <a:t>PROPÓSITO Y DIRECCIÓN</a:t>
            </a:r>
          </a:p>
          <a:p>
            <a:pPr>
              <a:defRPr sz="1500">
                <a:solidFill>
                  <a:srgbClr val="D4AF37"/>
                </a:solidFill>
                <a:latin typeface="Montserrat"/>
              </a:defRPr>
            </a:pPr>
            <a:r>
              <a:t>Capítulo 2: De la pasión sin foco a la construcción de un negocio con sentido, rentabilidad y libertad.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20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ontserrat"/>
              </a:defRPr>
            </a:pPr>
            <a:r>
              <a:t>Lic. Romina Lorena Montiel</a:t>
            </a:r>
          </a:p>
          <a:p>
            <a:pPr>
              <a:defRPr sz="1000">
                <a:solidFill>
                  <a:srgbClr val="646E7D"/>
                </a:solidFill>
                <a:latin typeface="Montserrat"/>
              </a:defRPr>
            </a:pPr>
            <a:r>
              <a:t>Lic. en Administración • Neuropsicoeducadora • Mentora de Mentes y Negocios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4871E"/>
                </a:solidFill>
                <a:latin typeface="Montserrat"/>
              </a:defRPr>
            </a:pPr>
            <a:r>
              <a:t>CLASE 2 • PROPÓSITO Y DIRECCIÓN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E121B"/>
                </a:solidFill>
                <a:latin typeface="Montserrat"/>
              </a:defRPr>
            </a:pPr>
            <a:r>
              <a:t>Propósito ≠ Pasión ≠ Misión ≠ Meta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8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B4871E"/>
                </a:solidFill>
                <a:latin typeface="Montserrat"/>
              </a:defRPr>
            </a:pPr>
            <a:r>
              <a:t>PASIÓN</a:t>
            </a:r>
          </a:p>
          <a:p>
            <a:pPr>
              <a:defRPr sz="1100" b="1">
                <a:solidFill>
                  <a:srgbClr val="0E121B"/>
                </a:solidFill>
                <a:latin typeface="Montserrat"/>
              </a:defRPr>
            </a:pPr>
            <a:r>
              <a:t>Lo que te encanta hacer</a:t>
            </a:r>
          </a:p>
          <a:p>
            <a:br/>
            <a:pPr>
              <a:defRPr sz="1000">
                <a:solidFill>
                  <a:srgbClr val="646E7D"/>
                </a:solidFill>
                <a:latin typeface="Montserrat"/>
              </a:defRPr>
            </a:pPr>
            <a:r>
              <a:t>Energía interna pura. Te genera disfrute a vos, pero no necesariamente resuelve un dolor de mercado.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828800"/>
            <a:ext cx="25603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D4AF37"/>
                </a:solidFill>
                <a:latin typeface="Montserrat"/>
              </a:defRPr>
            </a:pPr>
            <a:r>
              <a:t>PROPÓSITO</a:t>
            </a:r>
          </a:p>
          <a:p>
            <a:pPr>
              <a:defRPr sz="1100" b="1">
                <a:solidFill>
                  <a:srgbClr val="0E121B"/>
                </a:solidFill>
                <a:latin typeface="Montserrat"/>
              </a:defRPr>
            </a:pPr>
            <a:r>
              <a:t>El sentido de tu acción</a:t>
            </a:r>
          </a:p>
          <a:p>
            <a:br/>
            <a:pPr>
              <a:defRPr sz="1000">
                <a:solidFill>
                  <a:srgbClr val="646E7D"/>
                </a:solidFill>
                <a:latin typeface="Montserrat"/>
              </a:defRPr>
            </a:pPr>
            <a:r>
              <a:t>La transformación que buscas generar en el mundo. El 'para qué' que te sostiene en los momentos difíciles.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5603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1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0E121B"/>
                </a:solidFill>
                <a:latin typeface="Montserrat"/>
              </a:defRPr>
            </a:pPr>
            <a:r>
              <a:t>MISIÓN</a:t>
            </a:r>
          </a:p>
          <a:p>
            <a:pPr>
              <a:defRPr sz="1100" b="1">
                <a:solidFill>
                  <a:srgbClr val="0E121B"/>
                </a:solidFill>
                <a:latin typeface="Montserrat"/>
              </a:defRPr>
            </a:pPr>
            <a:r>
              <a:t>Lo que hacés a diario</a:t>
            </a:r>
          </a:p>
          <a:p>
            <a:br/>
            <a:pPr>
              <a:defRPr sz="1000">
                <a:solidFill>
                  <a:srgbClr val="646E7D"/>
                </a:solidFill>
                <a:latin typeface="Montserrat"/>
              </a:defRPr>
            </a:pPr>
            <a:r>
              <a:t>La tarea concreta y sistemática que ejecutás para materializar tu propósito con tus clientes.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828800"/>
            <a:ext cx="25603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E94560"/>
                </a:solidFill>
                <a:latin typeface="Montserrat"/>
              </a:defRPr>
            </a:pPr>
            <a:r>
              <a:t>META</a:t>
            </a:r>
          </a:p>
          <a:p>
            <a:pPr>
              <a:defRPr sz="1100" b="1">
                <a:solidFill>
                  <a:srgbClr val="0E121B"/>
                </a:solidFill>
                <a:latin typeface="Montserrat"/>
              </a:defRPr>
            </a:pPr>
            <a:r>
              <a:t>El resultado medible</a:t>
            </a:r>
          </a:p>
          <a:p>
            <a:br/>
            <a:pPr>
              <a:defRPr sz="1000">
                <a:solidFill>
                  <a:srgbClr val="646E7D"/>
                </a:solidFill>
                <a:latin typeface="Montserrat"/>
              </a:defRPr>
            </a:pPr>
            <a:r>
              <a:t>El número, plazo o resultado tangible que te permite validar si el negocio avanza o retrocede.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4871E"/>
                </a:solidFill>
                <a:latin typeface="Montserrat"/>
              </a:defRPr>
            </a:pPr>
            <a:r>
              <a:t>CLASE 2 • PROPÓSITO Y DIRECCIÓN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E121B"/>
                </a:solidFill>
                <a:latin typeface="Montserrat"/>
              </a:defRPr>
            </a:pPr>
            <a:r>
              <a:t>Caso Testigo: De Pasión sin Foco a Negocio con Dirección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206240"/>
          </a:xfrm>
          <a:prstGeom prst="roundRect">
            <a:avLst/>
          </a:prstGeom>
          <a:solidFill>
            <a:srgbClr val="FFF5F5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400" b="1">
                <a:solidFill>
                  <a:srgbClr val="E94560"/>
                </a:solidFill>
                <a:latin typeface="Montserrat"/>
              </a:defRPr>
            </a:pPr>
            <a:r>
              <a:t>🔴 MARÍA: PASIÓN SIN DIRECCIÓN</a:t>
            </a:r>
          </a:p>
          <a:p>
            <a:br/>
            <a:pPr>
              <a:defRPr sz="1150">
                <a:solidFill>
                  <a:srgbClr val="0E121B"/>
                </a:solidFill>
                <a:latin typeface="Montserrat"/>
              </a:defRPr>
            </a:pPr>
            <a:r>
              <a:t>• Crea productos hermosos porque le apasionan, pero no sabe a quién vendérselos.</a:t>
            </a:r>
            <a:br/>
            <a:r>
              <a:t>• Vive de ofertas esporádicas y regatea sus precios por temor al rechazo.</a:t>
            </a:r>
            <a:br/>
            <a:r>
              <a:t>• Trabaja 14 horas al día agotada sin ver rentabilidad.</a:t>
            </a:r>
            <a:br/>
            <a:r>
              <a:t>• Siente culpa al cobrar y duda de su propuesta.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206240"/>
          </a:xfrm>
          <a:prstGeom prst="roundRect">
            <a:avLst/>
          </a:prstGeom>
          <a:solidFill>
            <a:srgbClr val="F5FCF8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400" b="1">
                <a:solidFill>
                  <a:srgbClr val="10B981"/>
                </a:solidFill>
                <a:latin typeface="Montserrat"/>
              </a:defRPr>
            </a:pPr>
            <a:r>
              <a:t>🟢 MARÍA: PROPÓSITO CON DIRECCIÓN (MODO LÍDER)</a:t>
            </a:r>
          </a:p>
          <a:p>
            <a:br/>
            <a:pPr>
              <a:defRPr sz="1150">
                <a:solidFill>
                  <a:srgbClr val="0E121B"/>
                </a:solidFill>
                <a:latin typeface="Montserrat"/>
              </a:defRPr>
            </a:pPr>
            <a:r>
              <a:t>• Entiende el problema urgente de su cliente ideal y le diseña la solución.</a:t>
            </a:r>
            <a:br/>
            <a:r>
              <a:t>• Comunica el valor de su transformación, no las características técnicas.</a:t>
            </a:r>
            <a:br/>
            <a:r>
              <a:t>• Establece tarifas rentables que sostienen su vida y su empresa.</a:t>
            </a:r>
            <a:br/>
            <a:r>
              <a:t>• Toma decisiones estratégicas con postura de líder consciente.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2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Montserrat"/>
              </a:defRPr>
            </a:pPr>
            <a:r>
              <a:t>CLASE 2 • PROPÓSITO Y DIRECCIÓN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La Fórmula: Problema → Persona → Transformación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011680"/>
            <a:ext cx="9966960" cy="3931920"/>
          </a:xfrm>
          <a:prstGeom prst="roundRect">
            <a:avLst/>
          </a:prstGeom>
          <a:solidFill>
            <a:srgbClr val="23160E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1800" b="1">
                <a:solidFill>
                  <a:srgbClr val="D4AF37"/>
                </a:solidFill>
                <a:latin typeface="Montserrat"/>
              </a:defRPr>
            </a:pPr>
            <a:r>
              <a:t>LA ECUACIÓN DEL PROPÓSITO RENTABLE</a:t>
            </a:r>
          </a:p>
          <a:p>
            <a:br/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'Mi cliente pasa de [PUNTO A: DOLOR ACTUAL] a [PUNTO B: ESTADO DESEADO] gracias a mi [PRODUCTO / SERVICIO].'</a:t>
            </a:r>
          </a:p>
          <a:p>
            <a:br/>
            <a:pPr>
              <a:defRPr sz="1200">
                <a:solidFill>
                  <a:srgbClr val="F5F0E8"/>
                </a:solidFill>
                <a:latin typeface="Montserrat"/>
              </a:defRPr>
            </a:pPr>
            <a:r>
              <a:t>1. Tu cliente no compra tu tiempo, compra su futuro alivio o resultado.</a:t>
            </a:r>
            <a:br/>
            <a:r>
              <a:t>2. Si el Punto A no duele lo suficiente, no hay venta.</a:t>
            </a:r>
            <a:br/>
            <a:r>
              <a:t>3. Si el Punto B no es claro y tangible, hay duda y postergación.</a:t>
            </a:r>
            <a:br/>
            <a:r>
              <a:t>4. Tu dirección estratégica consiste en acortar y asegurar ese puente.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