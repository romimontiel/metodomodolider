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926080"/>
          </a:xfrm>
          <a:prstGeom prst="rect">
            <a:avLst/>
          </a:prstGeom>
          <a:solidFill>
            <a:srgbClr val="C4A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4A882"/>
                </a:solidFill>
                <a:latin typeface="Montserrat"/>
              </a:defRPr>
            </a:pPr>
            <a:r>
              <a:t>MÉTODO MODO LÍDER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AF6F0"/>
                </a:solidFill>
                <a:latin typeface="Georgia"/>
              </a:defRPr>
            </a:pPr>
            <a:r>
              <a:t>Los Miedos Detrás de lo que Nos Compran Nuestros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9C9A8"/>
                </a:solidFill>
                <a:latin typeface="Montserrat"/>
              </a:defRPr>
            </a:pPr>
            <a:r>
              <a:t>No solo compran para ganar algo. Compran, sobre todo, para no perder algo.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D1A08"/>
                </a:solidFill>
                <a:latin typeface="Montserrat"/>
              </a:defRPr>
            </a:pPr>
            <a:r>
              <a:t>PUNTO 1 • IDEA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1816"/>
                </a:solidFill>
                <a:latin typeface="Georgia"/>
              </a:defRPr>
            </a:pPr>
            <a:r>
              <a:t>LO QUE EMPUJA LA DECISIÓN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1188720"/>
          </a:xfrm>
          <a:prstGeom prst="roundRect">
            <a:avLst/>
          </a:prstGeom>
          <a:solidFill>
            <a:srgbClr val="C8AF86"/>
          </a:solidFill>
          <a:ln w="12700">
            <a:solidFill>
              <a:srgbClr val="3D1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800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1816"/>
                </a:solidFill>
                <a:latin typeface="Montserrat"/>
              </a:defRPr>
            </a:pPr>
            <a:r>
              <a:t>💡 Toda transformación que persigue tu clienta tiene, del otro lado, un miedo que la está empujando a actuar. Ese miedo suele pesar más que el deseo — y es el que realmente activa la decisión de compra.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1A08"/>
                </a:solidFill>
                <a:latin typeface="Montserrat"/>
              </a:defRPr>
            </a:pPr>
            <a:r>
              <a:t>NO SOLO SE ACERCAN AL DESEO</a:t>
            </a:r>
          </a:p>
          <a:p>
            <a:pPr>
              <a:spcBef>
                <a:spcPts val="4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También se alejan de lo que temen perder, no lograr o que las demás noten.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D1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1A08"/>
                </a:solidFill>
                <a:latin typeface="Montserrat"/>
              </a:defRPr>
            </a:pPr>
            <a:r>
              <a:t>EL MIEDO RARA VEZ SE DICE</a:t>
            </a:r>
          </a:p>
          <a:p>
            <a:pPr>
              <a:spcBef>
                <a:spcPts val="4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Se racionaliza como 'quiero mejorar', pero por debajo hay algo puntual que quiere evitar.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1A08"/>
                </a:solidFill>
                <a:latin typeface="Montserrat"/>
              </a:defRPr>
            </a:pPr>
            <a:r>
              <a:t>NOMBRARLO GENERA CERCANÍA</a:t>
            </a:r>
          </a:p>
          <a:p>
            <a:pPr>
              <a:spcBef>
                <a:spcPts val="4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Cuando comunicas el miedo específico, tu clienta se siente vista y entendida, no vendida.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D1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1A08"/>
                </a:solidFill>
                <a:latin typeface="Montserrat"/>
              </a:defRPr>
            </a:pPr>
            <a:r>
              <a:t>CONECTA CON EL MAPA MODO LÍDER</a:t>
            </a:r>
          </a:p>
          <a:p>
            <a:pPr>
              <a:spcBef>
                <a:spcPts val="4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MIEDO ➔ PROBLEMA ➔ TRANSFORMACIÓN ➔ IMPACTO. El miedo es el punto de partida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4A882"/>
                </a:solidFill>
                <a:latin typeface="Montserrat"/>
              </a:defRPr>
            </a:pPr>
            <a:r>
              <a:t>PUNTO 2 • LOS MIEDOS MATRIZ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AF6F0"/>
                </a:solidFill>
                <a:latin typeface="Georgia"/>
              </a:defRPr>
            </a:pPr>
            <a:r>
              <a:t>Los miedos que subyacen a casi todo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34440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882"/>
                </a:solidFill>
                <a:latin typeface="Montserrat"/>
              </a:defRPr>
            </a:pPr>
            <a:r>
              <a:t>QUEDARSE ATRÁS</a:t>
            </a:r>
          </a:p>
          <a:p>
            <a:pPr>
              <a:spcBef>
                <a:spcPts val="300"/>
              </a:spcBef>
              <a:defRPr sz="1050">
                <a:solidFill>
                  <a:srgbClr val="FAF6F0"/>
                </a:solidFill>
                <a:latin typeface="Montserrat"/>
              </a:defRPr>
            </a:pPr>
            <a:r>
              <a:t>Que las demás avancen y ella no. 'Mientras yo no resuelvo esto, otras ya lo lograron.'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34440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882"/>
                </a:solidFill>
                <a:latin typeface="Montserrat"/>
              </a:defRPr>
            </a:pPr>
            <a:r>
              <a:t>EL JUICIO DEL OTRO</a:t>
            </a:r>
          </a:p>
          <a:p>
            <a:pPr>
              <a:spcBef>
                <a:spcPts val="300"/>
              </a:spcBef>
              <a:defRPr sz="1050">
                <a:solidFill>
                  <a:srgbClr val="FAF6F0"/>
                </a:solidFill>
                <a:latin typeface="Montserrat"/>
              </a:defRPr>
            </a:pPr>
            <a:r>
              <a:t>Qué van a pensar, cómo la van a ver, si va a estar 'a la altura'.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1234440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882"/>
                </a:solidFill>
                <a:latin typeface="Montserrat"/>
              </a:defRPr>
            </a:pPr>
            <a:r>
              <a:t>PERDER TIEMPO O PLATA</a:t>
            </a:r>
          </a:p>
          <a:p>
            <a:pPr>
              <a:spcBef>
                <a:spcPts val="300"/>
              </a:spcBef>
              <a:defRPr sz="1050">
                <a:solidFill>
                  <a:srgbClr val="FAF6F0"/>
                </a:solidFill>
                <a:latin typeface="Montserrat"/>
              </a:defRPr>
            </a:pPr>
            <a:r>
              <a:t>Desconfianza acumulada por intentos previos que no funcionaron.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212080" cy="1234440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882"/>
                </a:solidFill>
                <a:latin typeface="Montserrat"/>
              </a:defRPr>
            </a:pPr>
            <a:r>
              <a:t>NO SER CAPAZ</a:t>
            </a:r>
          </a:p>
          <a:p>
            <a:pPr>
              <a:spcBef>
                <a:spcPts val="300"/>
              </a:spcBef>
              <a:defRPr sz="1050">
                <a:solidFill>
                  <a:srgbClr val="FAF6F0"/>
                </a:solidFill>
                <a:latin typeface="Montserrat"/>
              </a:defRPr>
            </a:pPr>
            <a:r>
              <a:t>Que el problema no sea la estrategia sino ella misma. 'Y si no me da la cabeza para esto.'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5212080" cy="1234440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882"/>
                </a:solidFill>
                <a:latin typeface="Montserrat"/>
              </a:defRPr>
            </a:pPr>
            <a:r>
              <a:t>PERDER EL CONTROL</a:t>
            </a:r>
          </a:p>
          <a:p>
            <a:pPr>
              <a:spcBef>
                <a:spcPts val="300"/>
              </a:spcBef>
              <a:defRPr sz="1050">
                <a:solidFill>
                  <a:srgbClr val="FAF6F0"/>
                </a:solidFill>
                <a:latin typeface="Montserrat"/>
              </a:defRPr>
            </a:pPr>
            <a:r>
              <a:t>De su cuerpo, su economía, su tiempo, su negocio.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5212080" cy="1234440"/>
          </a:xfrm>
          <a:prstGeom prst="roundRect">
            <a:avLst/>
          </a:prstGeom>
          <a:solidFill>
            <a:srgbClr val="23190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4A882"/>
                </a:solidFill>
                <a:latin typeface="Montserrat"/>
              </a:defRPr>
            </a:pPr>
            <a:r>
              <a:t>QUE SEA DEMASIADO TARDE</a:t>
            </a:r>
          </a:p>
          <a:p>
            <a:pPr>
              <a:spcBef>
                <a:spcPts val="300"/>
              </a:spcBef>
              <a:defRPr sz="1050">
                <a:solidFill>
                  <a:srgbClr val="FAF6F0"/>
                </a:solidFill>
                <a:latin typeface="Montserrat"/>
              </a:defRPr>
            </a:pPr>
            <a:r>
              <a:t>La urgencia silenciosa de 'esto ya lo vengo posponiendo hace rato.'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06440"/>
            <a:ext cx="10728655" cy="73152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4A882"/>
                </a:solidFill>
                <a:latin typeface="Georgia"/>
              </a:defRPr>
            </a:pPr>
            <a:r>
              <a:t>“No solo compran para ganar algo. Compran para no perder algo.”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D1A08"/>
                </a:solidFill>
                <a:latin typeface="Montserrat"/>
              </a:defRPr>
            </a:pPr>
            <a:r>
              <a:t>PUNTO 3 • CASOS CONCRETOS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1816"/>
                </a:solidFill>
                <a:latin typeface="Georgia"/>
              </a:defRPr>
            </a:pPr>
            <a:r>
              <a:t>El miedo detrás de cada transformación, por rubro (Parte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1A08"/>
                </a:solidFill>
                <a:latin typeface="Montserrat"/>
              </a:defRPr>
            </a:pPr>
            <a:r>
              <a:t>RUBROS • TRANSFORMACIÓN QUE COMPRA ➔ EL MIEDO REAL QUE HAY DETRÁS</a:t>
            </a:r>
          </a:p>
          <a:p>
            <a:pPr>
              <a:spcBef>
                <a:spcPts val="600"/>
              </a:spcBef>
              <a:defRPr sz="1050">
                <a:solidFill>
                  <a:srgbClr val="1A1816"/>
                </a:solidFill>
                <a:latin typeface="Montserrat"/>
              </a:defRPr>
            </a:pPr>
            <a:r>
              <a:t>• Pastelería casera: Compra Festejo lindo, ser buena anfitriona ➔ Miedo: Que la mesa quede pobre o desprolija, no estar a la altura de lo esperado, gastar y que no guste.</a:t>
            </a:r>
          </a:p>
          <a:p>
            <a:pPr>
              <a:spcBef>
                <a:spcPts val="600"/>
              </a:spcBef>
              <a:defRPr sz="1050">
                <a:solidFill>
                  <a:srgbClr val="1A1816"/>
                </a:solidFill>
                <a:latin typeface="Montserrat"/>
              </a:defRPr>
            </a:pPr>
            <a:r>
              <a:t>• Abogada: Compra Protección, resolución legal, tranquilidad ➔ Miedo: Perder un juicio o herencia, que la estafen, quedar desprotegida frente al otro.</a:t>
            </a:r>
          </a:p>
          <a:p>
            <a:pPr>
              <a:spcBef>
                <a:spcPts val="600"/>
              </a:spcBef>
              <a:defRPr sz="1050">
                <a:solidFill>
                  <a:srgbClr val="1A1816"/>
                </a:solidFill>
                <a:latin typeface="Montserrat"/>
              </a:defRPr>
            </a:pPr>
            <a:r>
              <a:t>• Clases de yoga online: Compra Bienestar, conexión con una misma, espacio propio ➔ Miedo: No sostener la constancia, sentirse sola ante la pantalla, que el estrés arruine la salud.</a:t>
            </a:r>
          </a:p>
          <a:p>
            <a:pPr>
              <a:spcBef>
                <a:spcPts val="600"/>
              </a:spcBef>
              <a:defRPr sz="1050">
                <a:solidFill>
                  <a:srgbClr val="1A1816"/>
                </a:solidFill>
                <a:latin typeface="Montserrat"/>
              </a:defRPr>
            </a:pPr>
            <a:r>
              <a:t>• Trenzadora: Compra Verse prolija, destacar, pertenecer a un grupo ➔ Miedo: Que el peinado se arruine, no quedar conforme en el evento, quedar afuera del grupo.</a:t>
            </a:r>
          </a:p>
          <a:p>
            <a:pPr>
              <a:spcBef>
                <a:spcPts val="600"/>
              </a:spcBef>
              <a:defRPr sz="1050">
                <a:solidFill>
                  <a:srgbClr val="1A1816"/>
                </a:solidFill>
                <a:latin typeface="Montserrat"/>
              </a:defRPr>
            </a:pPr>
            <a:r>
              <a:t>• Micropigmentadora: Compra Verse mejor sin maquillarse a diario, tapar estrías ➔ Miedo: Inseguridad con partes de su cuerpo, perder tiempo a diario, no gustarse o no atraer miradas.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D1A08"/>
                </a:solidFill>
                <a:latin typeface="Montserrat"/>
              </a:defRPr>
            </a:pPr>
            <a:r>
              <a:t>PUNTO 3 • CASOS CONCRETOS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1816"/>
                </a:solidFill>
                <a:latin typeface="Georgia"/>
              </a:defRPr>
            </a:pPr>
            <a:r>
              <a:t>El miedo detrás de cada transformación, por rubro (Parte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D1A08"/>
                </a:solidFill>
                <a:latin typeface="Montserrat"/>
              </a:defRPr>
            </a:pPr>
            <a:r>
              <a:t>RUBROS • TRANSFORMACIÓN QUE COMPRA ➔ EL MIEDO REAL QUE HAY DETRÁS</a:t>
            </a:r>
          </a:p>
          <a:p>
            <a:pPr>
              <a:spcBef>
                <a:spcPts val="8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• Venta calzado e indumentaria online: Compra Verse bien, resolver sin salir de casa, calzado cómodo ➔ Miedo: Evitar mostrar los pies por vergüenza, que no le quede la talla, gastar mal en algo de mala calidad o comprar sin probarse.</a:t>
            </a:r>
          </a:p>
          <a:p>
            <a:pPr>
              <a:spcBef>
                <a:spcPts val="8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• Ingeniera agrónoma: Compra Producción asegurada, tranquilidad técnica en el campo ➔ Miedo: Perder la cosecha o rinde, tomar decisiones técnicas erradas, no tener con quién consultar a tiempo.</a:t>
            </a:r>
          </a:p>
          <a:p>
            <a:pPr>
              <a:spcBef>
                <a:spcPts val="8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• Biodecodificadora: Compra Entender el motivo de su síntoma y cómo sanar ➔ Miedo: Que el síntoma empeore sin explicación, sentir que 'está loca' o que nadie la entiende mientras las demás están bien.</a:t>
            </a:r>
          </a:p>
          <a:p>
            <a:pPr>
              <a:spcBef>
                <a:spcPts val="800"/>
              </a:spcBef>
              <a:defRPr sz="1100">
                <a:solidFill>
                  <a:srgbClr val="1A1816"/>
                </a:solidFill>
                <a:latin typeface="Montserrat"/>
              </a:defRPr>
            </a:pPr>
            <a:r>
              <a:t>• Productos de belleza: Compra Verse bonita, oler agradable, cuidar rostro y cuerpo ➔ Miedo: No gustarse, oler mal y que se note, descuidar el paso del tiempo y no verse atractiva o profesional frente a los demás.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D1A08"/>
                </a:solidFill>
                <a:latin typeface="Montserrat"/>
              </a:defRPr>
            </a:pPr>
            <a:r>
              <a:t>PUNTO 4 • POR QUÉ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A1816"/>
                </a:solidFill>
                <a:latin typeface="Georgia"/>
              </a:defRPr>
            </a:pPr>
            <a:r>
              <a:t>Hablarle al miedo es hablarle a quien decide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6048"/>
                </a:solidFill>
                <a:latin typeface="Montserrat"/>
              </a:defRPr>
            </a:pPr>
            <a:r>
              <a:t>SOLO EL DESEO (PARTE RACIONAL)</a:t>
            </a:r>
          </a:p>
          <a:p>
            <a:pPr>
              <a:spcBef>
                <a:spcPts val="600"/>
              </a:spcBef>
              <a:defRPr sz="1150">
                <a:solidFill>
                  <a:srgbClr val="1A1816"/>
                </a:solidFill>
                <a:latin typeface="Montserrat"/>
              </a:defRPr>
            </a:pPr>
            <a:r>
              <a:t>“Vas a sentirte segura, vas a tener claridad.”</a:t>
            </a:r>
            <a:br/>
            <a:br/>
            <a:r>
              <a:t>Le hablas a la parte racional de su mente. No genera urgencia ni movilización profunda.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4A3525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4A882"/>
                </a:solidFill>
                <a:latin typeface="Montserrat"/>
              </a:defRPr>
            </a:pPr>
            <a:r>
              <a:t>EL MIEDO NOMBRADO (PARTE QUE DECIDE)</a:t>
            </a:r>
          </a:p>
          <a:p>
            <a:pPr>
              <a:spcBef>
                <a:spcPts val="600"/>
              </a:spcBef>
              <a:defRPr sz="1150">
                <a:solidFill>
                  <a:srgbClr val="FAF6F0"/>
                </a:solidFill>
                <a:latin typeface="Montserrat"/>
              </a:defRPr>
            </a:pPr>
            <a:r>
              <a:t>Nombras lo que teme perder o calla.</a:t>
            </a:r>
            <a:br/>
            <a:br/>
            <a:r>
              <a:t>Le hablas a la parte que realmente decide comprar, porque tu clienta se siente completamente vista y comprendida.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3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10180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6048"/>
                </a:solidFill>
                <a:latin typeface="Montserrat"/>
              </a:defRPr>
            </a:pPr>
            <a:r>
              <a:t>FÓRMULA AMPLIADA MODO LÍDER:</a:t>
            </a:r>
          </a:p>
          <a:p>
            <a:pPr>
              <a:spcBef>
                <a:spcPts val="800"/>
              </a:spcBef>
              <a:defRPr sz="1600" b="1">
                <a:solidFill>
                  <a:srgbClr val="1A1816"/>
                </a:solidFill>
                <a:latin typeface="Georgia"/>
              </a:defRPr>
            </a:pPr>
            <a:r>
              <a:t>“Te ayudo a [resolver problema], para que dejes de [miedo concreto] y puedas [transformación / beneficio].”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1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38404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C4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920240"/>
            <a:ext cx="8899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A882"/>
                </a:solidFill>
                <a:latin typeface="Montserrat"/>
              </a:defRPr>
            </a:pPr>
            <a:r>
              <a:t>MENSAJE FINAL</a:t>
            </a:r>
          </a:p>
          <a:p>
            <a:pPr algn="ctr">
              <a:spcBef>
                <a:spcPts val="1600"/>
              </a:spcBef>
              <a:defRPr sz="2600" b="1">
                <a:solidFill>
                  <a:srgbClr val="FAF6F0"/>
                </a:solidFill>
                <a:latin typeface="Georgia"/>
              </a:defRPr>
            </a:pPr>
            <a:r>
              <a:t>No vendas solo lo que tu clienta quiere lograr.</a:t>
            </a:r>
          </a:p>
          <a:p>
            <a:pPr algn="ctr">
              <a:spcBef>
                <a:spcPts val="1600"/>
              </a:spcBef>
              <a:defRPr sz="2200" b="1">
                <a:solidFill>
                  <a:srgbClr val="C4A882"/>
                </a:solidFill>
                <a:latin typeface="Georgia"/>
              </a:defRPr>
            </a:pPr>
            <a:r>
              <a:t>Nombrá también lo que tiene miedo de perder. Ahí está la decisión.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D9C9A8"/>
                </a:solidFill>
                <a:latin typeface="Montserrat"/>
              </a:defRPr>
            </a:pPr>
            <a:r>
              <a:t>MÉTODO MODO LÍDER 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