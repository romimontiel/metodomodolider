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09728" cy="29260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Montserrat"/>
              </a:defRPr>
            </a:pPr>
            <a:r>
              <a:t>CURSO: CREAR UN NEGOCIO DE CERO A IMPACTO Y VENTAS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5F7"/>
                </a:solidFill>
                <a:latin typeface="Montserrat"/>
              </a:defRPr>
            </a:pPr>
            <a:r>
              <a:t>CLASE 1: EL EMPRESARIO CONSCIENTE</a:t>
            </a:r>
            <a:br/>
            <a:r>
              <a:t>GESTIONAR DESDE LA CLARIDAD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4BECD"/>
                </a:solidFill>
                <a:latin typeface="Montserrat"/>
              </a:defRPr>
            </a:pPr>
            <a:r>
              <a:t>MÉTODO MODO LÍDER • ROMINA MONTIEL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4871E"/>
                </a:solidFill>
                <a:latin typeface="Montserrat"/>
              </a:defRPr>
            </a:pPr>
            <a:r>
              <a:t>FUNDAMENTOS • MODO LÍDER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1F2A"/>
                </a:solidFill>
                <a:latin typeface="Montserrat"/>
              </a:defRPr>
            </a:pPr>
            <a:r>
              <a:t>¿Qué significa realmente ser un Empresario Consciente?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94560"/>
                </a:solidFill>
                <a:latin typeface="Montserrat"/>
              </a:defRPr>
            </a:pPr>
            <a:r>
              <a:t>LO QUE MUCHOS CREEN</a:t>
            </a:r>
          </a:p>
          <a:p>
            <a:pPr>
              <a:spcBef>
                <a:spcPts val="1200"/>
              </a:spcBef>
              <a:defRPr sz="1300">
                <a:solidFill>
                  <a:srgbClr val="1B1F2A"/>
                </a:solidFill>
                <a:latin typeface="Montserrat"/>
              </a:defRPr>
            </a:pPr>
            <a:r>
              <a:t>• Creer que ser consciente es solo 'trabajar la mente' o meditar.</a:t>
            </a:r>
            <a:br/>
            <a:r>
              <a:t>• Pensar que el propósito está reñido con ganar dinero.</a:t>
            </a:r>
            <a:br/>
            <a:r>
              <a:t>• Gestionar por intuición o urgencias cotidianas.</a:t>
            </a:r>
            <a:br/>
            <a:r>
              <a:t>• Sentir culpa por cobrar bien o decir que no a clientes.</a:t>
            </a:r>
            <a:br/>
            <a:r>
              <a:t>• Caer en la reflexión permanente sin ejecutar.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EF9EB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871E"/>
                </a:solidFill>
                <a:latin typeface="Montserrat"/>
              </a:defRPr>
            </a:pPr>
            <a:r>
              <a:t>LA VERDAD DEL EMPRESARIO CONSCIENTE</a:t>
            </a:r>
          </a:p>
          <a:p>
            <a:pPr>
              <a:spcBef>
                <a:spcPts val="1000"/>
              </a:spcBef>
              <a:defRPr sz="1300">
                <a:solidFill>
                  <a:srgbClr val="1B1F2A"/>
                </a:solidFill>
                <a:latin typeface="Montserrat"/>
              </a:defRPr>
            </a:pPr>
            <a:r>
              <a:t>Ser consciente es liderar un negocio desde:</a:t>
            </a:r>
            <a:br/>
            <a:br/>
            <a:r>
              <a:t>🧭 1. Claridad absoluta sobre qué construyes y para qué.</a:t>
            </a:r>
            <a:br/>
            <a:r>
              <a:t>💰 2. Números reales, rentabilidad y flujo financiero.</a:t>
            </a:r>
            <a:br/>
            <a:r>
              <a:t>🎯 3. Ventas y comunicación basada en valor genuino.</a:t>
            </a:r>
            <a:br/>
            <a:r>
              <a:t>⚙️ 4. Estrategia y ejecución disciplinada.</a:t>
            </a:r>
            <a:br/>
            <a:r>
              <a:t>🤝 5. Liderazgo responsable con límites firmes.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Montserrat"/>
              </a:defRPr>
            </a:pPr>
            <a:r>
              <a:t>MAPA ESTRATÉGICO • MODO LÍDER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Montserrat"/>
              </a:defRPr>
            </a:pPr>
            <a:r>
              <a:t>Los 7 Pilares del Empresario Consciente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161A25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Montserrat"/>
              </a:defRPr>
            </a:pPr>
            <a:r>
              <a:t>1. Gestiona desde la Claridad</a:t>
            </a:r>
          </a:p>
          <a:p>
            <a:pPr>
              <a:spcBef>
                <a:spcPts val="600"/>
              </a:spcBef>
              <a:defRPr sz="1050">
                <a:solidFill>
                  <a:srgbClr val="AAB4C3"/>
                </a:solidFill>
                <a:latin typeface="Montserrat"/>
              </a:defRPr>
            </a:pPr>
            <a:r>
              <a:t>Punto de partida: rumbo, límites y decisiones alineadas.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2011680"/>
          </a:xfrm>
          <a:prstGeom prst="roundRect">
            <a:avLst/>
          </a:prstGeom>
          <a:solidFill>
            <a:srgbClr val="161A25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5F7"/>
                </a:solidFill>
                <a:latin typeface="Montserrat"/>
              </a:defRPr>
            </a:pPr>
            <a:r>
              <a:t>2. Se Conoce y se Autolidera</a:t>
            </a:r>
          </a:p>
          <a:p>
            <a:pPr>
              <a:spcBef>
                <a:spcPts val="600"/>
              </a:spcBef>
              <a:defRPr sz="1050">
                <a:solidFill>
                  <a:srgbClr val="AAB4C3"/>
                </a:solidFill>
                <a:latin typeface="Montserrat"/>
              </a:defRPr>
            </a:pPr>
            <a:r>
              <a:t>El negocio es un reflejo de quien lo lidera.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2011680"/>
          </a:xfrm>
          <a:prstGeom prst="roundRect">
            <a:avLst/>
          </a:prstGeom>
          <a:solidFill>
            <a:srgbClr val="161A25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830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5F7"/>
                </a:solidFill>
                <a:latin typeface="Montserrat"/>
              </a:defRPr>
            </a:pPr>
            <a:r>
              <a:t>3. Entiende el Dinero</a:t>
            </a:r>
          </a:p>
          <a:p>
            <a:pPr>
              <a:spcBef>
                <a:spcPts val="600"/>
              </a:spcBef>
              <a:defRPr sz="1050">
                <a:solidFill>
                  <a:srgbClr val="AAB4C3"/>
                </a:solidFill>
                <a:latin typeface="Montserrat"/>
              </a:defRPr>
            </a:pPr>
            <a:r>
              <a:t>Cero miedo y cero romanticismo: números y rentabilidad.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2011680"/>
          </a:xfrm>
          <a:prstGeom prst="roundRect">
            <a:avLst/>
          </a:prstGeom>
          <a:solidFill>
            <a:srgbClr val="161A25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830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5F7"/>
                </a:solidFill>
                <a:latin typeface="Montserrat"/>
              </a:defRPr>
            </a:pPr>
            <a:r>
              <a:t>4. Vende y Comunica con Valor</a:t>
            </a:r>
          </a:p>
          <a:p>
            <a:pPr>
              <a:spcBef>
                <a:spcPts val="600"/>
              </a:spcBef>
              <a:defRPr sz="1050">
                <a:solidFill>
                  <a:srgbClr val="AAB4C3"/>
                </a:solidFill>
                <a:latin typeface="Montserrat"/>
              </a:defRPr>
            </a:pPr>
            <a:r>
              <a:t>Vender no es perseguir, es conectar y servir.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931920"/>
            <a:ext cx="3017520" cy="2011680"/>
          </a:xfrm>
          <a:prstGeom prst="roundRect">
            <a:avLst/>
          </a:prstGeom>
          <a:solidFill>
            <a:srgbClr val="161A25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4069080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5F7"/>
                </a:solidFill>
                <a:latin typeface="Montserrat"/>
              </a:defRPr>
            </a:pPr>
            <a:r>
              <a:t>5. Decide y Ejecuta</a:t>
            </a:r>
          </a:p>
          <a:p>
            <a:pPr>
              <a:spcBef>
                <a:spcPts val="600"/>
              </a:spcBef>
              <a:defRPr sz="1050">
                <a:solidFill>
                  <a:srgbClr val="AAB4C3"/>
                </a:solidFill>
                <a:latin typeface="Montserrat"/>
              </a:defRPr>
            </a:pPr>
            <a:r>
              <a:t>Consciencia con acción ágil; salir de la parálisis.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3931920"/>
            <a:ext cx="3017520" cy="2011680"/>
          </a:xfrm>
          <a:prstGeom prst="roundRect">
            <a:avLst/>
          </a:prstGeom>
          <a:solidFill>
            <a:srgbClr val="161A25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4069080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5F7"/>
                </a:solidFill>
                <a:latin typeface="Montserrat"/>
              </a:defRPr>
            </a:pPr>
            <a:r>
              <a:t>6. Gestiona para Crecer</a:t>
            </a:r>
          </a:p>
          <a:p>
            <a:pPr>
              <a:spcBef>
                <a:spcPts val="600"/>
              </a:spcBef>
              <a:defRPr sz="1050">
                <a:solidFill>
                  <a:srgbClr val="AAB4C3"/>
                </a:solidFill>
                <a:latin typeface="Montserrat"/>
              </a:defRPr>
            </a:pPr>
            <a:r>
              <a:t>Procesos, KPIs y escala sin agotar tu energía.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3931920"/>
            <a:ext cx="3017520" cy="2011680"/>
          </a:xfrm>
          <a:prstGeom prst="roundRect">
            <a:avLst/>
          </a:prstGeom>
          <a:solidFill>
            <a:srgbClr val="161A25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4069080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F5F7"/>
                </a:solidFill>
                <a:latin typeface="Montserrat"/>
              </a:defRPr>
            </a:pPr>
            <a:r>
              <a:t>7. Lidera con Responsabilidad</a:t>
            </a:r>
          </a:p>
          <a:p>
            <a:pPr>
              <a:spcBef>
                <a:spcPts val="600"/>
              </a:spcBef>
              <a:defRPr sz="1050">
                <a:solidFill>
                  <a:srgbClr val="AAB4C3"/>
                </a:solidFill>
                <a:latin typeface="Montserrat"/>
              </a:defRPr>
            </a:pPr>
            <a:r>
              <a:t>Límites claros y conversaciones difíciles.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4871E"/>
                </a:solidFill>
                <a:latin typeface="Montserrat"/>
              </a:defRPr>
            </a:pPr>
            <a:r>
              <a:t>PILAR 1 • MODO LÍDER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1F2A"/>
                </a:solidFill>
                <a:latin typeface="Montserrat"/>
              </a:defRPr>
            </a:pPr>
            <a:r>
              <a:t>Pilar 1: Gestiona desde la Claridad (El Punto de Partida)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EF9EB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4871E"/>
                </a:solidFill>
                <a:latin typeface="Montserrat"/>
              </a:defRPr>
            </a:pPr>
            <a:r>
              <a:t>“Antes de hablar de dinero, ventas, estrategia o liderazgo, tiene que existir una dirección. La claridad es el punto de partida de todo.”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1F2A"/>
                </a:solidFill>
                <a:latin typeface="Montserrat"/>
              </a:defRPr>
            </a:pPr>
            <a:r>
              <a:t>¿SOBRE QUÉ DEBES TENER CLARIDAD TOTAL?</a:t>
            </a:r>
          </a:p>
          <a:p>
            <a:pPr>
              <a:spcBef>
                <a:spcPts val="1000"/>
              </a:spcBef>
              <a:defRPr sz="1250">
                <a:solidFill>
                  <a:srgbClr val="1B1F2A"/>
                </a:solidFill>
                <a:latin typeface="Montserrat"/>
              </a:defRPr>
            </a:pPr>
            <a:r>
              <a:t>🎯 Qué quieres construir y para qué.</a:t>
            </a:r>
            <a:br/>
            <a:r>
              <a:t>📦 Qué productos o servicios ofreces exactamente.</a:t>
            </a:r>
            <a:br/>
            <a:r>
              <a:t>👥 A qué tipo de clientes quieres atender (y a quiénes no).</a:t>
            </a:r>
            <a:br/>
            <a:r>
              <a:t>💡 Qué problema específico resuelves y qué valor aportas.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51760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83464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1F2A"/>
                </a:solidFill>
                <a:latin typeface="Montserrat"/>
              </a:defRPr>
            </a:pPr>
            <a:r>
              <a:t>¿CÓMO DECIDES HACER NEGOCIOS?</a:t>
            </a:r>
          </a:p>
          <a:p>
            <a:pPr>
              <a:spcBef>
                <a:spcPts val="1000"/>
              </a:spcBef>
              <a:defRPr sz="1250">
                <a:solidFill>
                  <a:srgbClr val="1B1F2A"/>
                </a:solidFill>
                <a:latin typeface="Montserrat"/>
              </a:defRPr>
            </a:pPr>
            <a:r>
              <a:t>⚖️ Cuáles son los valores que guían tus decisiones.</a:t>
            </a:r>
            <a:br/>
            <a:r>
              <a:t>🚫 Qué estás dispuesto a hacer y qué NO estás dispuesto a hacer.</a:t>
            </a:r>
            <a:br/>
            <a:r>
              <a:t>🛡️ Cuáles son tus límites innegociables y cuáles son tus 'NO'.</a:t>
            </a:r>
            <a:br/>
            <a:r>
              <a:t>🧭 Tu brújula ética, comercial y de tiempo de vida.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4871E"/>
                </a:solidFill>
                <a:latin typeface="Montserrat"/>
              </a:defRPr>
            </a:pPr>
            <a:r>
              <a:t>PILAR 1 • MODO LÍDER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1F2A"/>
                </a:solidFill>
                <a:latin typeface="Montserrat"/>
              </a:defRPr>
            </a:pPr>
            <a:r>
              <a:t>Pilar 1: El Poder del 'NO' y los Límites Conscientes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94560"/>
                </a:solidFill>
                <a:latin typeface="Montserrat"/>
              </a:defRPr>
            </a:pPr>
            <a:r>
              <a:t>NO TODO CLIENTE</a:t>
            </a:r>
          </a:p>
          <a:p>
            <a:pPr>
              <a:spcBef>
                <a:spcPts val="800"/>
              </a:spcBef>
              <a:defRPr sz="1200" b="1">
                <a:solidFill>
                  <a:srgbClr val="1B1F2A"/>
                </a:solidFill>
                <a:latin typeface="Montserrat"/>
              </a:defRPr>
            </a:pPr>
            <a:r>
              <a:t>No todo cliente es un buen cliente para tu negocio.</a:t>
            </a:r>
          </a:p>
          <a:p>
            <a:pPr>
              <a:spcBef>
                <a:spcPts val="800"/>
              </a:spcBef>
              <a:defRPr sz="1100">
                <a:solidFill>
                  <a:srgbClr val="5A6473"/>
                </a:solidFill>
                <a:latin typeface="Montserrat"/>
              </a:defRPr>
            </a:pPr>
            <a:r>
              <a:t>Atender clientes desalineados agota tu energía y destruye tu rentabilidad.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4747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94560"/>
                </a:solidFill>
                <a:latin typeface="Montserrat"/>
              </a:defRPr>
            </a:pPr>
            <a:r>
              <a:t>NO TODA OPORTUNIDAD</a:t>
            </a:r>
          </a:p>
          <a:p>
            <a:pPr>
              <a:spcBef>
                <a:spcPts val="800"/>
              </a:spcBef>
              <a:defRPr sz="1200" b="1">
                <a:solidFill>
                  <a:srgbClr val="1B1F2A"/>
                </a:solidFill>
                <a:latin typeface="Montserrat"/>
              </a:defRPr>
            </a:pPr>
            <a:r>
              <a:t>No toda oportunidad es una buena oportunidad.</a:t>
            </a:r>
          </a:p>
          <a:p>
            <a:pPr>
              <a:spcBef>
                <a:spcPts val="800"/>
              </a:spcBef>
              <a:defRPr sz="1100">
                <a:solidFill>
                  <a:srgbClr val="5A6473"/>
                </a:solidFill>
                <a:latin typeface="Montserrat"/>
              </a:defRPr>
            </a:pPr>
            <a:r>
              <a:t>Aprende a distinguir entre una verdadera oportunidad y una distracción brillante.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554480"/>
            <a:ext cx="34747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7373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94560"/>
                </a:solidFill>
                <a:latin typeface="Montserrat"/>
              </a:defRPr>
            </a:pPr>
            <a:r>
              <a:t>NO TODO CRECIMIENTO</a:t>
            </a:r>
          </a:p>
          <a:p>
            <a:pPr>
              <a:spcBef>
                <a:spcPts val="800"/>
              </a:spcBef>
              <a:defRPr sz="1200" b="1">
                <a:solidFill>
                  <a:srgbClr val="1B1F2A"/>
                </a:solidFill>
                <a:latin typeface="Montserrat"/>
              </a:defRPr>
            </a:pPr>
            <a:r>
              <a:t>No todo crecimiento es crecimiento saludable.</a:t>
            </a:r>
          </a:p>
          <a:p>
            <a:pPr>
              <a:spcBef>
                <a:spcPts val="800"/>
              </a:spcBef>
              <a:defRPr sz="1100">
                <a:solidFill>
                  <a:srgbClr val="5A6473"/>
                </a:solidFill>
                <a:latin typeface="Montserrat"/>
              </a:defRPr>
            </a:pPr>
            <a:r>
              <a:t>Crecer sin estructura ni margen genera caos, deudas y burnout.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10728655" cy="1371600"/>
          </a:xfrm>
          <a:prstGeom prst="roundRect">
            <a:avLst/>
          </a:prstGeom>
          <a:solidFill>
            <a:srgbClr val="FEF9EB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834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871E"/>
                </a:solidFill>
                <a:latin typeface="Montserrat"/>
              </a:defRPr>
            </a:pPr>
            <a:r>
              <a:t>LA CLARIDAD TE DA EL PODER DE DECIR:</a:t>
            </a:r>
          </a:p>
          <a:p>
            <a:pPr>
              <a:spcBef>
                <a:spcPts val="400"/>
              </a:spcBef>
              <a:defRPr sz="1400" b="1">
                <a:solidFill>
                  <a:srgbClr val="1B1F2A"/>
                </a:solidFill>
                <a:latin typeface="Montserrat"/>
              </a:defRPr>
            </a:pPr>
            <a:r>
              <a:t>“Esto SÍ es para mi negocio. Esto NO. Por acá voy. Por acá NO.”</a:t>
            </a:r>
            <a:br/>
            <a:r>
              <a:t>Y desde esa claridad, recién entonces puedes gestionar.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4871E"/>
                </a:solidFill>
                <a:latin typeface="Montserrat"/>
              </a:defRPr>
            </a:pPr>
            <a:r>
              <a:t>PILAR 2 • MODO LÍDER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1F2A"/>
                </a:solidFill>
                <a:latin typeface="Montserrat"/>
              </a:defRPr>
            </a:pPr>
            <a:r>
              <a:t>Pilar 2: Se Conoce y se Autolidera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871E"/>
                </a:solidFill>
                <a:latin typeface="Montserrat"/>
              </a:defRPr>
            </a:pPr>
            <a:r>
              <a:t>EL NEGOCIO REFLEJA A SU LÍDER</a:t>
            </a:r>
          </a:p>
          <a:p>
            <a:pPr>
              <a:spcBef>
                <a:spcPts val="1000"/>
              </a:spcBef>
              <a:defRPr sz="1250">
                <a:solidFill>
                  <a:srgbClr val="1B1F2A"/>
                </a:solidFill>
                <a:latin typeface="Montserrat"/>
              </a:defRPr>
            </a:pPr>
            <a:r>
              <a:t>El negocio está directamente atravesado por quien lo dirige.</a:t>
            </a:r>
            <a:br/>
            <a:br/>
            <a:r>
              <a:t>Tus miedos, tus bloqueos con el dinero, tu incapacidad para delegar o tu falta de límites se trasladan inmediatamente a tus resultados empresariales.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1F2A"/>
                </a:solidFill>
                <a:latin typeface="Montserrat"/>
              </a:defRPr>
            </a:pPr>
            <a:r>
              <a:t>¿QUÉ HACE EL LÍDER CONSCIENTE?</a:t>
            </a:r>
          </a:p>
          <a:p>
            <a:pPr>
              <a:spcBef>
                <a:spcPts val="1000"/>
              </a:spcBef>
              <a:defRPr sz="1250">
                <a:solidFill>
                  <a:srgbClr val="1B1F2A"/>
                </a:solidFill>
                <a:latin typeface="Montserrat"/>
              </a:defRPr>
            </a:pPr>
            <a:r>
              <a:t>🧠 Reconoce sus patrones, creencias limitantes y emociones.</a:t>
            </a:r>
            <a:br/>
            <a:r>
              <a:t>🛡️ No permite que el miedo o el ego tomen las decisiones estratégicas.</a:t>
            </a:r>
            <a:br/>
            <a:r>
              <a:t>🎯 Desarrolla templanza emocional ante la incertidumbre.</a:t>
            </a:r>
            <a:br/>
            <a:r>
              <a:t>⚡ Gestiona su energía vital para sostener el ritmo de crecimiento.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4871E"/>
                </a:solidFill>
                <a:latin typeface="Montserrat"/>
              </a:defRPr>
            </a:pPr>
            <a:r>
              <a:t>PILAR 3 • MODO LÍDER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1F2A"/>
                </a:solidFill>
                <a:latin typeface="Montserrat"/>
              </a:defRPr>
            </a:pPr>
            <a:r>
              <a:t>Pilar 3: Entiende el Dinero (Sin Miedo ni Romanticismo)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EEFAF4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956A"/>
                </a:solidFill>
                <a:latin typeface="Montserrat"/>
              </a:defRPr>
            </a:pPr>
            <a:r>
              <a:t>“Un negocio con propósito también tiene que ser rentable para poder sostenerse, generar impacto y crecer.”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1F2A"/>
                </a:solidFill>
                <a:latin typeface="Montserrat"/>
              </a:defRPr>
            </a:pPr>
            <a:r>
              <a:t>NÚMEROS CLAROS</a:t>
            </a:r>
          </a:p>
          <a:p>
            <a:pPr>
              <a:spcBef>
                <a:spcPts val="1000"/>
              </a:spcBef>
              <a:defRPr sz="1200">
                <a:solidFill>
                  <a:srgbClr val="5A6473"/>
                </a:solidFill>
                <a:latin typeface="Montserrat"/>
              </a:defRPr>
            </a:pPr>
            <a:r>
              <a:t>Conoce sus costos reales fijos y variables. No adivina sus finanzas.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65176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92608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1F2A"/>
                </a:solidFill>
                <a:latin typeface="Montserrat"/>
              </a:defRPr>
            </a:pPr>
            <a:r>
              <a:t>PRECIOS &amp; RENTABILIDAD</a:t>
            </a:r>
          </a:p>
          <a:p>
            <a:pPr>
              <a:spcBef>
                <a:spcPts val="1000"/>
              </a:spcBef>
              <a:defRPr sz="1200">
                <a:solidFill>
                  <a:srgbClr val="5A6473"/>
                </a:solidFill>
                <a:latin typeface="Montserrat"/>
              </a:defRPr>
            </a:pPr>
            <a:r>
              <a:t>Cobra por el valor y la transformación, con un margen saludable.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265176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92608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1F2A"/>
                </a:solidFill>
                <a:latin typeface="Montserrat"/>
              </a:defRPr>
            </a:pPr>
            <a:r>
              <a:t>FLUJO &amp; OBJETIVOS</a:t>
            </a:r>
          </a:p>
          <a:p>
            <a:pPr>
              <a:spcBef>
                <a:spcPts val="1000"/>
              </a:spcBef>
              <a:defRPr sz="1200">
                <a:solidFill>
                  <a:srgbClr val="5A6473"/>
                </a:solidFill>
                <a:latin typeface="Montserrat"/>
              </a:defRPr>
            </a:pPr>
            <a:r>
              <a:t>Monitorea su flujo de caja y define metas económicas precisas.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4871E"/>
                </a:solidFill>
                <a:latin typeface="Montserrat"/>
              </a:defRPr>
            </a:pPr>
            <a:r>
              <a:t>PILAR 4 • MODO LÍDER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1F2A"/>
                </a:solidFill>
                <a:latin typeface="Montserrat"/>
              </a:defRPr>
            </a:pPr>
            <a:r>
              <a:t>Pilar 4: Vende y Comunica con Valor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FF3F5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4560"/>
                </a:solidFill>
                <a:latin typeface="Montserrat"/>
              </a:defRPr>
            </a:pPr>
            <a:r>
              <a:t>LO QUE NO ES VENDER</a:t>
            </a:r>
          </a:p>
          <a:p>
            <a:pPr>
              <a:spcBef>
                <a:spcPts val="1400"/>
              </a:spcBef>
              <a:defRPr sz="1300">
                <a:solidFill>
                  <a:srgbClr val="1B1F2A"/>
                </a:solidFill>
                <a:latin typeface="Montserrat"/>
              </a:defRPr>
            </a:pPr>
            <a:r>
              <a:t>❌ Vender NO es perseguir personas.</a:t>
            </a:r>
            <a:br/>
            <a:r>
              <a:t>❌ NO es convencer a quien no necesita tu servicio.</a:t>
            </a:r>
            <a:br/>
            <a:r>
              <a:t>❌ NO es manipular ni rebajar tus precios por inseguridad.</a:t>
            </a:r>
            <a:br/>
            <a:r>
              <a:t>❌ NO es rogar por una respuesta.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EF9EB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871E"/>
                </a:solidFill>
                <a:latin typeface="Montserrat"/>
              </a:defRPr>
            </a:pPr>
            <a:r>
              <a:t>LA VENTA CONSCIENTE EN MODO LÍDER</a:t>
            </a:r>
          </a:p>
          <a:p>
            <a:pPr>
              <a:spcBef>
                <a:spcPts val="1400"/>
              </a:spcBef>
              <a:defRPr sz="1300">
                <a:solidFill>
                  <a:srgbClr val="1B1F2A"/>
                </a:solidFill>
                <a:latin typeface="Montserrat"/>
              </a:defRPr>
            </a:pPr>
            <a:r>
              <a:t>✨ Comunicar con total nitidez el valor de lo que ofreces.</a:t>
            </a:r>
            <a:br/>
            <a:r>
              <a:t>✨ Conectar con la necesidad real del cliente calificado.</a:t>
            </a:r>
            <a:br/>
            <a:r>
              <a:t>✨ Posicionarte como la solución experta y de confianza.</a:t>
            </a:r>
            <a:br/>
            <a:r>
              <a:t>✨ Acompañar al cliente para que tome la mejor decisión.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4871E"/>
                </a:solidFill>
                <a:latin typeface="Montserrat"/>
              </a:defRPr>
            </a:pPr>
            <a:r>
              <a:t>PILAR 5 • MODO LÍDER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1F2A"/>
                </a:solidFill>
                <a:latin typeface="Montserrat"/>
              </a:defRPr>
            </a:pPr>
            <a:r>
              <a:t>Pilar 5: Decide y Ejecuta (Vencer la Parálisis)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EF9EB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4871E"/>
                </a:solidFill>
                <a:latin typeface="Montserrat"/>
              </a:defRPr>
            </a:pPr>
            <a:r>
              <a:t>“La consciencia sin acción se convierte en reflexión permanente. No esperes tener todo perfecto para avanzar.”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2011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1F2A"/>
                </a:solidFill>
                <a:latin typeface="Montserrat"/>
              </a:defRPr>
            </a:pPr>
            <a:r>
              <a:t>1. PRIORIZA</a:t>
            </a:r>
          </a:p>
          <a:p>
            <a:pPr>
              <a:spcBef>
                <a:spcPts val="800"/>
              </a:spcBef>
              <a:defRPr sz="1100">
                <a:solidFill>
                  <a:srgbClr val="5A6473"/>
                </a:solidFill>
                <a:latin typeface="Montserrat"/>
              </a:defRPr>
            </a:pPr>
            <a:r>
              <a:t>Elige qué mueve la aguja hoy.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2651760"/>
            <a:ext cx="2011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1" y="301752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1F2A"/>
                </a:solidFill>
                <a:latin typeface="Montserrat"/>
              </a:defRPr>
            </a:pPr>
            <a:r>
              <a:t>2. PRUEBA</a:t>
            </a:r>
          </a:p>
          <a:p>
            <a:pPr>
              <a:spcBef>
                <a:spcPts val="800"/>
              </a:spcBef>
              <a:defRPr sz="1100">
                <a:solidFill>
                  <a:srgbClr val="5A6473"/>
                </a:solidFill>
                <a:latin typeface="Montserrat"/>
              </a:defRPr>
            </a:pPr>
            <a:r>
              <a:t>Lanza sin esperar perfección.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2651760"/>
            <a:ext cx="2011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4" y="301752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1F2A"/>
                </a:solidFill>
                <a:latin typeface="Montserrat"/>
              </a:defRPr>
            </a:pPr>
            <a:r>
              <a:t>3. MIDE</a:t>
            </a:r>
          </a:p>
          <a:p>
            <a:pPr>
              <a:spcBef>
                <a:spcPts val="800"/>
              </a:spcBef>
              <a:defRPr sz="1100">
                <a:solidFill>
                  <a:srgbClr val="5A6473"/>
                </a:solidFill>
                <a:latin typeface="Montserrat"/>
              </a:defRPr>
            </a:pPr>
            <a:r>
              <a:t>Evalúa con datos y hechos.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2651760"/>
            <a:ext cx="2011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1776" y="301752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1F2A"/>
                </a:solidFill>
                <a:latin typeface="Montserrat"/>
              </a:defRPr>
            </a:pPr>
            <a:r>
              <a:t>4. CORRIGE</a:t>
            </a:r>
          </a:p>
          <a:p>
            <a:pPr>
              <a:spcBef>
                <a:spcPts val="800"/>
              </a:spcBef>
              <a:defRPr sz="1100">
                <a:solidFill>
                  <a:srgbClr val="5A6473"/>
                </a:solidFill>
                <a:latin typeface="Montserrat"/>
              </a:defRPr>
            </a:pPr>
            <a:r>
              <a:t>Ajusta con rapidez y sin culpa.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6608" y="2651760"/>
            <a:ext cx="2011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8048" y="301752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1F2A"/>
                </a:solidFill>
                <a:latin typeface="Montserrat"/>
              </a:defRPr>
            </a:pPr>
            <a:r>
              <a:t>5. REACCIONA</a:t>
            </a:r>
          </a:p>
          <a:p>
            <a:pPr>
              <a:spcBef>
                <a:spcPts val="800"/>
              </a:spcBef>
              <a:defRPr sz="1100">
                <a:solidFill>
                  <a:srgbClr val="5A6473"/>
                </a:solidFill>
                <a:latin typeface="Montserrat"/>
              </a:defRPr>
            </a:pPr>
            <a:r>
              <a:t>Vuelve a ejecutar con foco.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4871E"/>
                </a:solidFill>
                <a:latin typeface="Montserrat"/>
              </a:defRPr>
            </a:pPr>
            <a:r>
              <a:t>PILAR 6 • MODO LÍDER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1F2A"/>
                </a:solidFill>
                <a:latin typeface="Montserrat"/>
              </a:defRPr>
            </a:pPr>
            <a:r>
              <a:t>Pilar 6: Gestiona para Crecer (Salir de lo Urgente)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4560"/>
                </a:solidFill>
                <a:latin typeface="Montserrat"/>
              </a:defRPr>
            </a:pPr>
            <a:r>
              <a:t>DEJAR EL 'MODO BOMBERO'</a:t>
            </a:r>
          </a:p>
          <a:p>
            <a:pPr>
              <a:spcBef>
                <a:spcPts val="1000"/>
              </a:spcBef>
              <a:defRPr sz="1250">
                <a:solidFill>
                  <a:srgbClr val="1B1F2A"/>
                </a:solidFill>
                <a:latin typeface="Montserrat"/>
              </a:defRPr>
            </a:pPr>
            <a:r>
              <a:t>Muchos emprendedores pasan sus días apagando incendios y resolviendo solo lo urgente.</a:t>
            </a:r>
            <a:br/>
            <a:br/>
            <a:r>
              <a:t>Eso no es liderar un negocio, es ser esclavo de las operaciones diarias sin tiempo para construir el futuro.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871E"/>
                </a:solidFill>
                <a:latin typeface="Montserrat"/>
              </a:defRPr>
            </a:pPr>
            <a:r>
              <a:t>CONSTRUIR ESCALABILIDAD REAL</a:t>
            </a:r>
          </a:p>
          <a:p>
            <a:pPr>
              <a:spcBef>
                <a:spcPts val="1000"/>
              </a:spcBef>
              <a:defRPr sz="1250">
                <a:solidFill>
                  <a:srgbClr val="1B1F2A"/>
                </a:solidFill>
                <a:latin typeface="Montserrat"/>
              </a:defRPr>
            </a:pPr>
            <a:r>
              <a:t>📊 Mira indicadores y resultados reales (KPIs).</a:t>
            </a:r>
            <a:br/>
            <a:r>
              <a:t>⚙️ Estandariza procesos repetitivos y operaciones.</a:t>
            </a:r>
            <a:br/>
            <a:r>
              <a:t>👥 Optimiza la experiencia y retención de clientes.</a:t>
            </a:r>
            <a:br/>
            <a:r>
              <a:t>🔋 Construye un negocio que crezca sin depender 100% de tu energía física.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4871E"/>
                </a:solidFill>
                <a:latin typeface="Montserrat"/>
              </a:defRPr>
            </a:pPr>
            <a:r>
              <a:t>PILAR 7 • MODO LÍDER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1F2A"/>
                </a:solidFill>
                <a:latin typeface="Montserrat"/>
              </a:defRPr>
            </a:pPr>
            <a:r>
              <a:t>Pilar 7: Lidera con Responsabilidad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1F2A"/>
                </a:solidFill>
                <a:latin typeface="Montserrat"/>
              </a:defRPr>
            </a:pPr>
            <a:r>
              <a:t>CUIDAR LAS RELACIONES</a:t>
            </a:r>
          </a:p>
          <a:p>
            <a:pPr>
              <a:spcBef>
                <a:spcPts val="1200"/>
              </a:spcBef>
              <a:defRPr sz="1250">
                <a:solidFill>
                  <a:srgbClr val="1B1F2A"/>
                </a:solidFill>
                <a:latin typeface="Montserrat"/>
              </a:defRPr>
            </a:pPr>
            <a:r>
              <a:t>Cuida el vínculo con clientes, colaboradores y proveedores desde el respeto mutuo y la excelencia.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474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4560"/>
                </a:solidFill>
                <a:latin typeface="Montserrat"/>
              </a:defRPr>
            </a:pPr>
            <a:r>
              <a:t>NO COMPLACER A TODOS</a:t>
            </a:r>
          </a:p>
          <a:p>
            <a:pPr>
              <a:spcBef>
                <a:spcPts val="1200"/>
              </a:spcBef>
              <a:defRPr sz="1250">
                <a:solidFill>
                  <a:srgbClr val="1B1F2A"/>
                </a:solidFill>
                <a:latin typeface="Montserrat"/>
              </a:defRPr>
            </a:pPr>
            <a:r>
              <a:t>Liderazgo consciente NO es complacer a todo el mundo. Es sostener la visión y la coherencia del negocio.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554480"/>
            <a:ext cx="3474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871E"/>
                </a:solidFill>
                <a:latin typeface="Montserrat"/>
              </a:defRPr>
            </a:pPr>
            <a:r>
              <a:t>CONVERSACIONES DIFÍCILES</a:t>
            </a:r>
          </a:p>
          <a:p>
            <a:pPr>
              <a:spcBef>
                <a:spcPts val="1200"/>
              </a:spcBef>
              <a:defRPr sz="1250">
                <a:solidFill>
                  <a:srgbClr val="1B1F2A"/>
                </a:solidFill>
                <a:latin typeface="Montserrat"/>
              </a:defRPr>
            </a:pPr>
            <a:r>
              <a:t>Tener límites innegociables, sostener conversaciones incómodas y tomar decisiones difíciles con templanza.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Montserrat"/>
              </a:defRPr>
            </a:pPr>
            <a:r>
              <a:t>MÉTODO MODO LÍDER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Montserrat"/>
              </a:defRPr>
            </a:pPr>
            <a:r>
              <a:t>La Secuencia de Éxito en Modo Líder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3840480"/>
          </a:xfrm>
          <a:prstGeom prst="roundRect">
            <a:avLst/>
          </a:prstGeom>
          <a:solidFill>
            <a:srgbClr val="161A25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Montserrat"/>
              </a:defRPr>
            </a:pPr>
            <a:r>
              <a:t>1. CLARIDAD</a:t>
            </a:r>
          </a:p>
          <a:p>
            <a:pPr>
              <a:spcBef>
                <a:spcPts val="1200"/>
              </a:spcBef>
              <a:defRPr sz="1200">
                <a:solidFill>
                  <a:srgbClr val="F5F5F7"/>
                </a:solidFill>
                <a:latin typeface="Montserrat"/>
              </a:defRPr>
            </a:pPr>
            <a:r>
              <a:t>Saber exactamente qué construyes, a quién sirves y cuáles son tus límites.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560320" cy="3840480"/>
          </a:xfrm>
          <a:prstGeom prst="roundRect">
            <a:avLst/>
          </a:prstGeom>
          <a:solidFill>
            <a:srgbClr val="161A25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28600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Montserrat"/>
              </a:defRPr>
            </a:pPr>
            <a:r>
              <a:t>2. DIRECCIÓN</a:t>
            </a:r>
          </a:p>
          <a:p>
            <a:pPr>
              <a:spcBef>
                <a:spcPts val="1200"/>
              </a:spcBef>
              <a:defRPr sz="1200">
                <a:solidFill>
                  <a:srgbClr val="F5F5F7"/>
                </a:solidFill>
                <a:latin typeface="Montserrat"/>
              </a:defRPr>
            </a:pPr>
            <a:r>
              <a:t>Trazar el rumbo estratégico y los objetivos financieros innegociables.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2560320" cy="3840480"/>
          </a:xfrm>
          <a:prstGeom prst="roundRect">
            <a:avLst/>
          </a:prstGeom>
          <a:solidFill>
            <a:srgbClr val="161A25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28600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Montserrat"/>
              </a:defRPr>
            </a:pPr>
            <a:r>
              <a:t>3. GESTIÓN</a:t>
            </a:r>
          </a:p>
          <a:p>
            <a:pPr>
              <a:spcBef>
                <a:spcPts val="1200"/>
              </a:spcBef>
              <a:defRPr sz="1200">
                <a:solidFill>
                  <a:srgbClr val="F5F5F7"/>
                </a:solidFill>
                <a:latin typeface="Montserrat"/>
              </a:defRPr>
            </a:pPr>
            <a:r>
              <a:t>Organizar números, procesos, ventas y decisiones diarias con disciplina.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2011680"/>
            <a:ext cx="2560320" cy="3840480"/>
          </a:xfrm>
          <a:prstGeom prst="roundRect">
            <a:avLst/>
          </a:prstGeom>
          <a:solidFill>
            <a:srgbClr val="161A25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228600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Montserrat"/>
              </a:defRPr>
            </a:pPr>
            <a:r>
              <a:t>4. CRECIMIENTO</a:t>
            </a:r>
          </a:p>
          <a:p>
            <a:pPr>
              <a:spcBef>
                <a:spcPts val="1200"/>
              </a:spcBef>
              <a:defRPr sz="1200">
                <a:solidFill>
                  <a:srgbClr val="F5F5F7"/>
                </a:solidFill>
                <a:latin typeface="Montserrat"/>
              </a:defRPr>
            </a:pPr>
            <a:r>
              <a:t>Escalar con rentabilidad, impacto sostenible y libertad personal.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9997135" cy="4663440"/>
          </a:xfrm>
          <a:prstGeom prst="rect">
            <a:avLst/>
          </a:prstGeom>
          <a:solidFill>
            <a:srgbClr val="161A25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8998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Montserrat"/>
              </a:defRPr>
            </a:pPr>
            <a:r>
              <a:t>DEFINICIÓN DEFINITIVA</a:t>
            </a:r>
          </a:p>
          <a:p>
            <a:pPr>
              <a:spcBef>
                <a:spcPts val="1400"/>
              </a:spcBef>
              <a:defRPr sz="2000" b="1">
                <a:solidFill>
                  <a:srgbClr val="F5F5F7"/>
                </a:solidFill>
                <a:latin typeface="Montserrat"/>
              </a:defRPr>
            </a:pPr>
            <a:r>
              <a:t>“Un empresario consciente no es aquel que hace negocios de manera perfecta.</a:t>
            </a:r>
            <a:br/>
            <a:br/>
            <a:r>
              <a:t>Es aquel que sabe desde dónde está gestionando, hacia dónde quiere ir, qué quiere construir y qué está dispuesto —y qué no— a hacer para conseguirlo.”</a:t>
            </a:r>
          </a:p>
          <a:p>
            <a:pPr>
              <a:spcBef>
                <a:spcPts val="1600"/>
              </a:spcBef>
              <a:defRPr sz="1400" b="1">
                <a:solidFill>
                  <a:srgbClr val="D4AF37"/>
                </a:solidFill>
                <a:latin typeface="Montserrat"/>
              </a:defRPr>
            </a:pPr>
            <a:r>
              <a:t>Primero Claridad. Después Dirección. Después Gestión. Y finalmente Crecimiento.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4871E"/>
                </a:solidFill>
                <a:latin typeface="Montserrat"/>
              </a:defRPr>
            </a:pPr>
            <a:r>
              <a:t>ACTIVACIÓN PRÁCTICA • 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1F2A"/>
                </a:solidFill>
                <a:latin typeface="Montserrat"/>
              </a:defRPr>
            </a:pPr>
            <a:r>
              <a:t>Tu Activación: Diagnóstico de Claridad Modo Líder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1F2A"/>
                </a:solidFill>
                <a:latin typeface="Montserrat"/>
              </a:defRPr>
            </a:pPr>
            <a:r>
              <a:t>PARTE 1: AUTOEVALUACIÓN DE LOS 7 PILARES</a:t>
            </a:r>
          </a:p>
          <a:p>
            <a:pPr>
              <a:spcBef>
                <a:spcPts val="800"/>
              </a:spcBef>
              <a:defRPr sz="1150">
                <a:solidFill>
                  <a:srgbClr val="1B1F2A"/>
                </a:solidFill>
                <a:latin typeface="Montserrat"/>
              </a:defRPr>
            </a:pPr>
            <a:r>
              <a:t>Califica del 1 al 10 en tu Workbook:</a:t>
            </a:r>
            <a:br/>
            <a:br/>
            <a:r>
              <a:t>1. Claridad de rumbo y propuesta de valor.</a:t>
            </a:r>
            <a:br/>
            <a:r>
              <a:t>2. Autoliderazgo y dominio emocional.</a:t>
            </a:r>
            <a:br/>
            <a:r>
              <a:t>3. Control de números y rentabilidad.</a:t>
            </a:r>
            <a:br/>
            <a:r>
              <a:t>4. Comunicación y ventas basadas en valor.</a:t>
            </a:r>
            <a:br/>
            <a:r>
              <a:t>5. Decisión y agilidad de ejecución.</a:t>
            </a:r>
            <a:br/>
            <a:r>
              <a:t>6. Procesos e indicadores de crecimiento.</a:t>
            </a:r>
            <a:br/>
            <a:r>
              <a:t>7. Firmeza de límites y liderazgo responsable.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EF9EB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871E"/>
                </a:solidFill>
                <a:latin typeface="Montserrat"/>
              </a:defRPr>
            </a:pPr>
            <a:r>
              <a:t>PARTE 2: DEFINICIÓN DE LÍMITES Y DIRECCIÓN</a:t>
            </a:r>
          </a:p>
          <a:p>
            <a:pPr>
              <a:spcBef>
                <a:spcPts val="1000"/>
              </a:spcBef>
              <a:defRPr sz="1200">
                <a:solidFill>
                  <a:srgbClr val="1B1F2A"/>
                </a:solidFill>
                <a:latin typeface="Montserrat"/>
              </a:defRPr>
            </a:pPr>
            <a:r>
              <a:t>Responde en tu cuaderno de trabajo:</a:t>
            </a:r>
            <a:br/>
            <a:br/>
            <a:r>
              <a:t>✍️ ¿Cuáles son los 3 'SÍ' fundamentales de tu negocio hoy?</a:t>
            </a:r>
            <a:br/>
            <a:br/>
            <a:r>
              <a:t>🚫 ¿Cuáles son los 3 'NO' innegociables que debes empezar a sostener de inmediato (clientes, precios, tiempo)?</a:t>
            </a:r>
            <a:br/>
            <a:br/>
            <a:r>
              <a:t>🎯 ¿Cuál es el pilar que más necesitas fortalecer este mes?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